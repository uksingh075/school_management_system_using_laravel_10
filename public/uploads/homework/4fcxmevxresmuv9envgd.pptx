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sldIdLst>
    <p:sldId id="256" r:id="rId2"/>
    <p:sldId id="259"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5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9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1620079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562131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18598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5ED20A-49BD-4CFB-818F-3150612CB067}" type="datetimeFigureOut">
              <a:rPr lang="en-IN" smtClean="0"/>
              <a:t>21-02-2025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3311182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5ED20A-49BD-4CFB-818F-3150612CB067}" type="datetimeFigureOut">
              <a:rPr lang="en-IN" smtClean="0"/>
              <a:t>21-02-2025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3793841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5ED20A-49BD-4CFB-818F-3150612CB067}" type="datetimeFigureOut">
              <a:rPr lang="en-IN" smtClean="0"/>
              <a:t>21-02-2025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2879021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5ED20A-49BD-4CFB-818F-3150612CB067}" type="datetimeFigureOut">
              <a:rPr lang="en-IN" smtClean="0"/>
              <a:t>21-02-2025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1579448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5ED20A-49BD-4CFB-818F-3150612CB067}" type="datetimeFigureOut">
              <a:rPr lang="en-IN" smtClean="0"/>
              <a:t>21-02-2025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899255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5ED20A-49BD-4CFB-818F-3150612CB067}" type="datetimeFigureOut">
              <a:rPr lang="en-IN" smtClean="0"/>
              <a:t>21-02-2025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131518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208967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B77975A-7AEC-45AB-9573-9FD6364B8B4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01490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15ED20A-49BD-4CFB-818F-3150612CB067}" type="datetimeFigureOut">
              <a:rPr lang="en-IN" smtClean="0"/>
              <a:t>21-02-2025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403755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15ED20A-49BD-4CFB-818F-3150612CB067}" type="datetimeFigureOut">
              <a:rPr lang="en-IN" smtClean="0"/>
              <a:t>21-02-2025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B77975A-7AEC-45AB-9573-9FD6364B8B4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35980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15ED20A-49BD-4CFB-818F-3150612CB067}" type="datetimeFigureOut">
              <a:rPr lang="en-IN" smtClean="0"/>
              <a:t>21-02-2025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136371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579499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5ED20A-49BD-4CFB-818F-3150612CB067}" type="datetimeFigureOut">
              <a:rPr lang="en-IN" smtClean="0"/>
              <a:t>21-02-2025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B77975A-7AEC-45AB-9573-9FD6364B8B4F}" type="slidenum">
              <a:rPr lang="en-IN" smtClean="0"/>
              <a:t>‹#›</a:t>
            </a:fld>
            <a:endParaRPr lang="en-IN"/>
          </a:p>
        </p:txBody>
      </p:sp>
    </p:spTree>
    <p:extLst>
      <p:ext uri="{BB962C8B-B14F-4D97-AF65-F5344CB8AC3E}">
        <p14:creationId xmlns:p14="http://schemas.microsoft.com/office/powerpoint/2010/main" val="1916111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15ED20A-49BD-4CFB-818F-3150612CB067}" type="datetimeFigureOut">
              <a:rPr lang="en-IN" smtClean="0"/>
              <a:t>21-02-2025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B77975A-7AEC-45AB-9573-9FD6364B8B4F}" type="slidenum">
              <a:rPr lang="en-IN" smtClean="0"/>
              <a:t>‹#›</a:t>
            </a:fld>
            <a:endParaRPr lang="en-IN"/>
          </a:p>
        </p:txBody>
      </p:sp>
    </p:spTree>
    <p:extLst>
      <p:ext uri="{BB962C8B-B14F-4D97-AF65-F5344CB8AC3E}">
        <p14:creationId xmlns:p14="http://schemas.microsoft.com/office/powerpoint/2010/main" val="1799966988"/>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 id="2147483895" r:id="rId14"/>
    <p:sldLayoutId id="2147483896" r:id="rId15"/>
    <p:sldLayoutId id="214748389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85B0F2A-7FA1-4CC7-905D-B1C72F03A624}"/>
              </a:ext>
            </a:extLst>
          </p:cNvPr>
          <p:cNvPicPr>
            <a:picLocks noChangeAspect="1"/>
          </p:cNvPicPr>
          <p:nvPr/>
        </p:nvPicPr>
        <p:blipFill>
          <a:blip r:embed="rId2"/>
          <a:stretch>
            <a:fillRect/>
          </a:stretch>
        </p:blipFill>
        <p:spPr>
          <a:xfrm>
            <a:off x="775104" y="496252"/>
            <a:ext cx="2667372" cy="2229161"/>
          </a:xfrm>
          <a:prstGeom prst="rect">
            <a:avLst/>
          </a:prstGeom>
        </p:spPr>
      </p:pic>
      <p:sp>
        <p:nvSpPr>
          <p:cNvPr id="11" name="Title 10">
            <a:extLst>
              <a:ext uri="{FF2B5EF4-FFF2-40B4-BE49-F238E27FC236}">
                <a16:creationId xmlns:a16="http://schemas.microsoft.com/office/drawing/2014/main" id="{250C73DD-BE8D-41CE-8933-95CF720927B5}"/>
              </a:ext>
            </a:extLst>
          </p:cNvPr>
          <p:cNvSpPr>
            <a:spLocks noGrp="1"/>
          </p:cNvSpPr>
          <p:nvPr>
            <p:ph type="title"/>
          </p:nvPr>
        </p:nvSpPr>
        <p:spPr>
          <a:xfrm>
            <a:off x="3625702" y="609600"/>
            <a:ext cx="7878909" cy="645042"/>
          </a:xfrm>
        </p:spPr>
        <p:txBody>
          <a:bodyPr>
            <a:normAutofit/>
          </a:bodyPr>
          <a:lstStyle/>
          <a:p>
            <a:r>
              <a:rPr lang="en-GB" sz="3200" b="1" dirty="0">
                <a:solidFill>
                  <a:schemeClr val="accent5">
                    <a:lumMod val="75000"/>
                  </a:schemeClr>
                </a:solidFill>
                <a:latin typeface="Times New Roman" panose="02020603050405020304" pitchFamily="18" charset="0"/>
                <a:cs typeface="Times New Roman" panose="02020603050405020304" pitchFamily="18" charset="0"/>
              </a:rPr>
              <a:t>Project Name : School Management System</a:t>
            </a:r>
            <a:endParaRPr lang="en-IN" sz="32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DCCF05AE-5497-42EF-8435-0D082024D47A}"/>
              </a:ext>
            </a:extLst>
          </p:cNvPr>
          <p:cNvSpPr>
            <a:spLocks noGrp="1"/>
          </p:cNvSpPr>
          <p:nvPr>
            <p:ph type="body" idx="1"/>
          </p:nvPr>
        </p:nvSpPr>
        <p:spPr>
          <a:xfrm>
            <a:off x="2881424" y="1924492"/>
            <a:ext cx="8835656" cy="4827181"/>
          </a:xfrm>
        </p:spPr>
        <p:txBody>
          <a:bodyPr>
            <a:normAutofit fontScale="85000" lnSpcReduction="10000"/>
          </a:bodyPr>
          <a:lstStyle/>
          <a:p>
            <a:pPr algn="ctr">
              <a:lnSpc>
                <a:spcPct val="150000"/>
              </a:lnSpc>
              <a:spcBef>
                <a:spcPts val="5"/>
              </a:spcBef>
            </a:pPr>
            <a:r>
              <a:rPr lang="en-GB" sz="1900" b="1" dirty="0">
                <a:effectLst/>
                <a:latin typeface="Times New Roman" panose="02020603050405020304" pitchFamily="18" charset="0"/>
                <a:ea typeface="Times New Roman" panose="02020603050405020304" pitchFamily="18" charset="0"/>
              </a:rPr>
              <a:t>Prepared By :</a:t>
            </a:r>
            <a:endParaRPr lang="en-IN" sz="1900" dirty="0">
              <a:effectLst/>
              <a:latin typeface="Courier New" panose="02070309020205020404" pitchFamily="49" charset="0"/>
              <a:ea typeface="Courier New" panose="02070309020205020404" pitchFamily="49" charset="0"/>
            </a:endParaRPr>
          </a:p>
          <a:p>
            <a:pPr algn="ctr">
              <a:lnSpc>
                <a:spcPct val="150000"/>
              </a:lnSpc>
            </a:pPr>
            <a:r>
              <a:rPr lang="en-GB" sz="1900" dirty="0">
                <a:solidFill>
                  <a:srgbClr val="C00000"/>
                </a:solidFill>
                <a:effectLst/>
                <a:latin typeface="Times New Roman" panose="02020603050405020304" pitchFamily="18" charset="0"/>
                <a:ea typeface="Courier New" panose="02070309020205020404" pitchFamily="49" charset="0"/>
                <a:cs typeface="Courier New" panose="02070309020205020404" pitchFamily="49" charset="0"/>
              </a:rPr>
              <a:t> </a:t>
            </a:r>
            <a:r>
              <a:rPr lang="en-GB" sz="1900" dirty="0">
                <a:solidFill>
                  <a:schemeClr val="accent5">
                    <a:lumMod val="75000"/>
                  </a:schemeClr>
                </a:solidFill>
                <a:effectLst/>
                <a:latin typeface="Times New Roman" panose="02020603050405020304" pitchFamily="18" charset="0"/>
                <a:ea typeface="Courier New" panose="02070309020205020404" pitchFamily="49" charset="0"/>
              </a:rPr>
              <a:t>UTTAM KUMAR SINGH</a:t>
            </a:r>
            <a:endParaRPr lang="en-IN" sz="1900" dirty="0">
              <a:solidFill>
                <a:schemeClr val="accent5">
                  <a:lumMod val="75000"/>
                </a:schemeClr>
              </a:solidFill>
              <a:effectLst/>
              <a:latin typeface="Courier New" panose="02070309020205020404" pitchFamily="49" charset="0"/>
              <a:ea typeface="Courier New" panose="02070309020205020404" pitchFamily="49" charset="0"/>
            </a:endParaRPr>
          </a:p>
          <a:p>
            <a:pPr marL="2286000" marR="1683385">
              <a:lnSpc>
                <a:spcPct val="150000"/>
              </a:lnSpc>
              <a:spcBef>
                <a:spcPts val="935"/>
              </a:spcBef>
              <a:spcAft>
                <a:spcPts val="0"/>
              </a:spcAft>
            </a:pPr>
            <a:r>
              <a:rPr lang="en-GB" sz="1900" dirty="0">
                <a:solidFill>
                  <a:schemeClr val="accent5">
                    <a:lumMod val="75000"/>
                  </a:schemeClr>
                </a:solidFill>
                <a:effectLst/>
                <a:latin typeface="Times New Roman" panose="02020603050405020304" pitchFamily="18" charset="0"/>
                <a:ea typeface="Courier New" panose="02070309020205020404" pitchFamily="49" charset="0"/>
              </a:rPr>
              <a:t>             		(22SDSCE01242)</a:t>
            </a:r>
            <a:endParaRPr lang="en-IN" sz="1900" dirty="0">
              <a:solidFill>
                <a:schemeClr val="accent5">
                  <a:lumMod val="75000"/>
                </a:schemeClr>
              </a:solidFill>
              <a:effectLst/>
              <a:latin typeface="Courier New" panose="02070309020205020404" pitchFamily="49" charset="0"/>
              <a:ea typeface="Courier New" panose="02070309020205020404" pitchFamily="49" charset="0"/>
            </a:endParaRPr>
          </a:p>
          <a:p>
            <a:pPr marL="45085" marR="45720" algn="ctr">
              <a:spcAft>
                <a:spcPts val="0"/>
              </a:spcAft>
            </a:pPr>
            <a:r>
              <a:rPr lang="en-GB" sz="1900" dirty="0">
                <a:effectLst/>
                <a:latin typeface="Times New Roman" panose="02020603050405020304" pitchFamily="18" charset="0"/>
                <a:ea typeface="Courier New" panose="02070309020205020404" pitchFamily="49" charset="0"/>
                <a:cs typeface="Courier New" panose="02070309020205020404" pitchFamily="49" charset="0"/>
              </a:rPr>
              <a:t>DIPLOMA IN COMPUTER ENGINEERING</a:t>
            </a:r>
            <a:endParaRPr lang="en-IN" sz="1900" dirty="0">
              <a:effectLst/>
              <a:latin typeface="Courier New" panose="02070309020205020404" pitchFamily="49" charset="0"/>
              <a:ea typeface="Courier New" panose="02070309020205020404" pitchFamily="49" charset="0"/>
            </a:endParaRPr>
          </a:p>
          <a:p>
            <a:pPr marL="1682750" marR="1683385" algn="ctr">
              <a:spcBef>
                <a:spcPts val="100"/>
              </a:spcBef>
              <a:spcAft>
                <a:spcPts val="0"/>
              </a:spcAft>
            </a:pPr>
            <a:r>
              <a:rPr lang="en-GB" sz="1900" dirty="0">
                <a:effectLst/>
                <a:latin typeface="Times New Roman" panose="02020603050405020304" pitchFamily="18" charset="0"/>
                <a:ea typeface="Courier New" panose="02070309020205020404" pitchFamily="49" charset="0"/>
                <a:cs typeface="Courier New" panose="02070309020205020404" pitchFamily="49" charset="0"/>
              </a:rPr>
              <a:t>Semester : 6</a:t>
            </a:r>
            <a:r>
              <a:rPr lang="en-GB" sz="1900" baseline="30000" dirty="0">
                <a:effectLst/>
                <a:latin typeface="Times New Roman" panose="02020603050405020304" pitchFamily="18" charset="0"/>
                <a:ea typeface="Courier New" panose="02070309020205020404" pitchFamily="49" charset="0"/>
                <a:cs typeface="Courier New" panose="02070309020205020404" pitchFamily="49" charset="0"/>
              </a:rPr>
              <a:t>th</a:t>
            </a:r>
          </a:p>
          <a:p>
            <a:pPr marL="1682750" marR="1683385" algn="ctr">
              <a:spcBef>
                <a:spcPts val="100"/>
              </a:spcBef>
              <a:spcAft>
                <a:spcPts val="0"/>
              </a:spcAft>
            </a:pPr>
            <a:endParaRPr lang="en-IN" sz="1900" dirty="0">
              <a:effectLst/>
              <a:latin typeface="Courier New" panose="02070309020205020404" pitchFamily="49" charset="0"/>
              <a:ea typeface="Courier New" panose="02070309020205020404" pitchFamily="49" charset="0"/>
            </a:endParaRPr>
          </a:p>
          <a:p>
            <a:pPr marL="1683385" marR="1683385" algn="ctr">
              <a:spcBef>
                <a:spcPts val="5"/>
              </a:spcBef>
              <a:spcAft>
                <a:spcPts val="0"/>
              </a:spcAft>
            </a:pPr>
            <a:r>
              <a:rPr lang="en-GB" sz="1900" dirty="0">
                <a:effectLst/>
                <a:latin typeface="Times New Roman" panose="02020603050405020304" pitchFamily="18" charset="0"/>
                <a:ea typeface="Courier New" panose="02070309020205020404" pitchFamily="49" charset="0"/>
                <a:cs typeface="Courier New" panose="02070309020205020404" pitchFamily="49" charset="0"/>
              </a:rPr>
              <a:t>Year : 2024-25</a:t>
            </a:r>
            <a:endParaRPr lang="en-IN" sz="1900" dirty="0">
              <a:effectLst/>
              <a:latin typeface="Courier New" panose="02070309020205020404" pitchFamily="49" charset="0"/>
              <a:ea typeface="Courier New" panose="02070309020205020404" pitchFamily="49" charset="0"/>
            </a:endParaRPr>
          </a:p>
          <a:p>
            <a:pPr algn="ctr">
              <a:lnSpc>
                <a:spcPct val="150000"/>
              </a:lnSpc>
            </a:pPr>
            <a:r>
              <a:rPr lang="en-GB" sz="1900" b="1" dirty="0">
                <a:effectLst/>
                <a:latin typeface="Times New Roman" panose="02020603050405020304" pitchFamily="18" charset="0"/>
                <a:ea typeface="Courier New" panose="02070309020205020404" pitchFamily="49" charset="0"/>
                <a:cs typeface="Courier New" panose="02070309020205020404" pitchFamily="49" charset="0"/>
              </a:rPr>
              <a:t>Under the guidance of</a:t>
            </a:r>
            <a:endParaRPr lang="en-IN" sz="1900" dirty="0">
              <a:effectLst/>
              <a:latin typeface="Courier New" panose="02070309020205020404" pitchFamily="49" charset="0"/>
              <a:ea typeface="Courier New" panose="02070309020205020404" pitchFamily="49" charset="0"/>
            </a:endParaRPr>
          </a:p>
          <a:p>
            <a:pPr algn="ctr">
              <a:lnSpc>
                <a:spcPct val="150000"/>
              </a:lnSpc>
            </a:pPr>
            <a:r>
              <a:rPr lang="en-GB" sz="1900" dirty="0">
                <a:solidFill>
                  <a:schemeClr val="accent5">
                    <a:lumMod val="75000"/>
                  </a:schemeClr>
                </a:solidFill>
                <a:effectLst/>
                <a:latin typeface="Times New Roman" panose="02020603050405020304" pitchFamily="18" charset="0"/>
                <a:ea typeface="Courier New" panose="02070309020205020404" pitchFamily="49" charset="0"/>
                <a:cs typeface="Courier New" panose="02070309020205020404" pitchFamily="49" charset="0"/>
              </a:rPr>
              <a:t>PROF. MILAN SAVALIYA</a:t>
            </a:r>
            <a:endParaRPr lang="en-IN" sz="1900" dirty="0">
              <a:solidFill>
                <a:schemeClr val="accent5">
                  <a:lumMod val="75000"/>
                </a:schemeClr>
              </a:solidFill>
              <a:effectLst/>
              <a:latin typeface="Courier New" panose="02070309020205020404" pitchFamily="49" charset="0"/>
              <a:ea typeface="Courier New" panose="02070309020205020404" pitchFamily="49" charset="0"/>
            </a:endParaRPr>
          </a:p>
          <a:p>
            <a:pPr algn="ctr">
              <a:lnSpc>
                <a:spcPct val="150000"/>
              </a:lnSpc>
            </a:pPr>
            <a:r>
              <a:rPr lang="en-GB" sz="1900" dirty="0">
                <a:solidFill>
                  <a:schemeClr val="accent5">
                    <a:lumMod val="75000"/>
                  </a:schemeClr>
                </a:solidFill>
                <a:effectLst/>
                <a:latin typeface="Times New Roman" panose="02020603050405020304" pitchFamily="18" charset="0"/>
                <a:ea typeface="Courier New" panose="02070309020205020404" pitchFamily="49" charset="0"/>
                <a:cs typeface="Courier New" panose="02070309020205020404" pitchFamily="49" charset="0"/>
              </a:rPr>
              <a:t>(Internal Guide)</a:t>
            </a:r>
          </a:p>
          <a:p>
            <a:pPr marL="1620520" marR="511175" indent="-862965" algn="ctr">
              <a:lnSpc>
                <a:spcPct val="150000"/>
              </a:lnSpc>
              <a:spcBef>
                <a:spcPts val="5"/>
              </a:spcBef>
              <a:spcAft>
                <a:spcPts val="0"/>
              </a:spcAft>
            </a:pPr>
            <a:r>
              <a:rPr lang="en-GB" sz="1900" dirty="0">
                <a:effectLst/>
                <a:latin typeface="Times New Roman" panose="02020603050405020304" pitchFamily="18" charset="0"/>
                <a:ea typeface="Courier New" panose="02070309020205020404" pitchFamily="49" charset="0"/>
                <a:cs typeface="Courier New" panose="02070309020205020404" pitchFamily="49" charset="0"/>
              </a:rPr>
              <a:t>SCHOOL OF DIPLOMA STUDIES</a:t>
            </a:r>
            <a:endParaRPr lang="en-IN" sz="1900" dirty="0">
              <a:effectLst/>
              <a:latin typeface="Courier New" panose="02070309020205020404" pitchFamily="49" charset="0"/>
              <a:ea typeface="Courier New" panose="02070309020205020404" pitchFamily="49" charset="0"/>
            </a:endParaRPr>
          </a:p>
          <a:p>
            <a:pPr marL="2375535" marR="1501775" indent="-862965" algn="ctr">
              <a:lnSpc>
                <a:spcPct val="150000"/>
              </a:lnSpc>
              <a:spcBef>
                <a:spcPts val="5"/>
              </a:spcBef>
              <a:spcAft>
                <a:spcPts val="0"/>
              </a:spcAft>
            </a:pPr>
            <a:r>
              <a:rPr lang="en-GB" sz="1900" dirty="0">
                <a:effectLst/>
                <a:latin typeface="Times New Roman" panose="02020603050405020304" pitchFamily="18" charset="0"/>
                <a:ea typeface="Courier New" panose="02070309020205020404" pitchFamily="49" charset="0"/>
                <a:cs typeface="Courier New" panose="02070309020205020404" pitchFamily="49" charset="0"/>
              </a:rPr>
              <a:t> RK. UNIVERSITY</a:t>
            </a:r>
            <a:endParaRPr lang="en-IN" sz="1900" dirty="0">
              <a:effectLst/>
              <a:latin typeface="Courier New" panose="02070309020205020404" pitchFamily="49" charset="0"/>
              <a:ea typeface="Courier New" panose="02070309020205020404" pitchFamily="49" charset="0"/>
            </a:endParaRPr>
          </a:p>
          <a:p>
            <a:pPr marL="54610" marR="45720">
              <a:spcAft>
                <a:spcPts val="0"/>
              </a:spcAft>
              <a:tabLst>
                <a:tab pos="2870200" algn="ctr"/>
                <a:tab pos="5685790" algn="r"/>
              </a:tabLst>
            </a:pPr>
            <a:r>
              <a:rPr lang="en-GB" sz="1900" dirty="0">
                <a:effectLst/>
                <a:latin typeface="Times New Roman" panose="02020603050405020304" pitchFamily="18" charset="0"/>
                <a:ea typeface="Courier New" panose="02070309020205020404" pitchFamily="49" charset="0"/>
                <a:cs typeface="Courier New" panose="02070309020205020404" pitchFamily="49" charset="0"/>
              </a:rPr>
              <a:t>	                                              RAJKOT (GUJRAT-INDIA) 360020.</a:t>
            </a:r>
            <a:endParaRPr lang="en-IN" sz="1900" dirty="0">
              <a:effectLst/>
              <a:latin typeface="Courier New" panose="02070309020205020404" pitchFamily="49" charset="0"/>
              <a:ea typeface="Courier New" panose="02070309020205020404" pitchFamily="49" charset="0"/>
            </a:endParaRPr>
          </a:p>
          <a:p>
            <a:pPr algn="ctr">
              <a:lnSpc>
                <a:spcPct val="150000"/>
              </a:lnSpc>
            </a:pPr>
            <a:endParaRPr lang="en-IN" sz="1800" dirty="0">
              <a:effectLst/>
              <a:latin typeface="Courier New" panose="02070309020205020404" pitchFamily="49" charset="0"/>
              <a:ea typeface="Courier New" panose="02070309020205020404" pitchFamily="49" charset="0"/>
            </a:endParaRPr>
          </a:p>
          <a:p>
            <a:endParaRPr lang="en-IN" dirty="0"/>
          </a:p>
        </p:txBody>
      </p:sp>
    </p:spTree>
    <p:extLst>
      <p:ext uri="{BB962C8B-B14F-4D97-AF65-F5344CB8AC3E}">
        <p14:creationId xmlns:p14="http://schemas.microsoft.com/office/powerpoint/2010/main" val="1280256873"/>
      </p:ext>
    </p:extLst>
  </p:cSld>
  <p:clrMapOvr>
    <a:masterClrMapping/>
  </p:clrMapOvr>
  <p:transition spd="slow">
    <p:wheel spokes="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A834C4-D521-48D6-847D-DC52728BA3EC}"/>
              </a:ext>
            </a:extLst>
          </p:cNvPr>
          <p:cNvSpPr>
            <a:spLocks noGrp="1"/>
          </p:cNvSpPr>
          <p:nvPr>
            <p:ph type="title"/>
          </p:nvPr>
        </p:nvSpPr>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OVERVIEW OF PRESENTATION</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88B7263-6538-4567-BC72-AF3C35147224}"/>
              </a:ext>
            </a:extLst>
          </p:cNvPr>
          <p:cNvSpPr>
            <a:spLocks noGrp="1"/>
          </p:cNvSpPr>
          <p:nvPr>
            <p:ph idx="1"/>
          </p:nvPr>
        </p:nvSpPr>
        <p:spPr>
          <a:xfrm>
            <a:off x="2589212" y="1905000"/>
            <a:ext cx="8915400" cy="4623390"/>
          </a:xfrm>
        </p:spPr>
        <p:txBody>
          <a:bodyPr>
            <a:normAutofit lnSpcReduction="10000"/>
          </a:bodyPr>
          <a:lstStyle/>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Introduction</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Problem Definition</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Objectives</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Scope of Work</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Functional Requirements</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Non functional Requirements</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Advantages/Benefits</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Entity Relationship Diagram</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Data Flow Diagram</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Activity Diagram</a:t>
            </a:r>
          </a:p>
          <a:p>
            <a:pPr>
              <a:buFont typeface="Wingdings 3" panose="05040102010807070707" pitchFamily="18" charset="2"/>
              <a:buChar char=""/>
            </a:pPr>
            <a:r>
              <a:rPr lang="en-GB" sz="2000" dirty="0">
                <a:latin typeface="Times New Roman" panose="02020603050405020304" pitchFamily="18" charset="0"/>
                <a:cs typeface="Times New Roman" panose="02020603050405020304" pitchFamily="18" charset="0"/>
              </a:rPr>
              <a:t>Use Case Diagram</a:t>
            </a:r>
          </a:p>
          <a:p>
            <a:pPr marL="0" indent="0">
              <a:buNone/>
            </a:pPr>
            <a:endParaRPr lang="en-GB" sz="2000" dirty="0"/>
          </a:p>
          <a:p>
            <a:endParaRPr lang="en-GB" sz="2000" dirty="0"/>
          </a:p>
          <a:p>
            <a:endParaRPr lang="en-IN" dirty="0"/>
          </a:p>
        </p:txBody>
      </p:sp>
    </p:spTree>
    <p:extLst>
      <p:ext uri="{BB962C8B-B14F-4D97-AF65-F5344CB8AC3E}">
        <p14:creationId xmlns:p14="http://schemas.microsoft.com/office/powerpoint/2010/main" val="2750164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08A94B-7FC8-429B-965F-6F3D17CBDA5A}"/>
              </a:ext>
            </a:extLst>
          </p:cNvPr>
          <p:cNvSpPr>
            <a:spLocks noGrp="1"/>
          </p:cNvSpPr>
          <p:nvPr>
            <p:ph type="title"/>
          </p:nvPr>
        </p:nvSpPr>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5BA02DD-CC3A-4A69-8E85-AF294DBD1CE7}"/>
              </a:ext>
            </a:extLst>
          </p:cNvPr>
          <p:cNvSpPr>
            <a:spLocks noGrp="1"/>
          </p:cNvSpPr>
          <p:nvPr>
            <p:ph idx="1"/>
          </p:nvPr>
        </p:nvSpPr>
        <p:spPr/>
        <p:txBody>
          <a:bodyPr>
            <a:normAutofit/>
          </a:bodyPr>
          <a:lstStyle/>
          <a:p>
            <a:pPr marL="393700" algn="just">
              <a:lnSpc>
                <a:spcPct val="115000"/>
              </a:lnSpc>
              <a:buFont typeface="Wingdings" panose="05000000000000000000" pitchFamily="2" charset="2"/>
              <a:buChar char="v"/>
            </a:pPr>
            <a:r>
              <a:rPr lang="en-IN" sz="1800" b="1" dirty="0">
                <a:solidFill>
                  <a:srgbClr val="000000"/>
                </a:solidFill>
                <a:effectLst/>
                <a:latin typeface="Times New Roman" panose="02020603050405020304" pitchFamily="18" charset="0"/>
                <a:ea typeface="Calibri" panose="020F0502020204030204" pitchFamily="34" charset="0"/>
              </a:rPr>
              <a:t>School Management Systems </a:t>
            </a:r>
            <a:r>
              <a:rPr lang="en-IN" sz="1800" dirty="0">
                <a:solidFill>
                  <a:srgbClr val="000000"/>
                </a:solidFill>
                <a:effectLst/>
                <a:latin typeface="Times New Roman" panose="02020603050405020304" pitchFamily="18" charset="0"/>
                <a:ea typeface="Calibri" panose="020F0502020204030204" pitchFamily="34" charset="0"/>
              </a:rPr>
              <a:t>Plays an essential role in the current educational       system. School authorities all over the world are engaged in a lot of day-to-day administrative and academic activities to manage and provide a better academic experience to students effectively. However, maintaining and keeping track of school administrative activities is not an easy process in the fast-growing world. It requires hard work and often it is time-consuming.</a:t>
            </a:r>
            <a:endParaRPr lang="en-IN" sz="1800" dirty="0">
              <a:solidFill>
                <a:srgbClr val="000000"/>
              </a:solidFill>
              <a:effectLst/>
              <a:latin typeface="Calibri" panose="020F0502020204030204" pitchFamily="34" charset="0"/>
              <a:ea typeface="Calibri" panose="020F0502020204030204" pitchFamily="34" charset="0"/>
            </a:endParaRPr>
          </a:p>
          <a:p>
            <a:pPr algn="just">
              <a:buFont typeface="Wingdings" panose="05000000000000000000" pitchFamily="2" charset="2"/>
              <a:buChar char="v"/>
            </a:pPr>
            <a:r>
              <a:rPr lang="en-IN" sz="1800" dirty="0">
                <a:solidFill>
                  <a:srgbClr val="000000"/>
                </a:solidFill>
                <a:effectLst/>
                <a:latin typeface="Times New Roman" panose="02020603050405020304" pitchFamily="18" charset="0"/>
                <a:ea typeface="Calibri" panose="020F0502020204030204" pitchFamily="34" charset="0"/>
              </a:rPr>
              <a:t>To better perform the school administrative activities of educational institute and to assure parents the real-time progress and security of their children, educational institutes utilizes School Management software nowadays. Such applications often offer many features that help to enhance the performance of schools with minimum efforts. School Management software does it by avoiding the manual paper works and automation of many academic and administrative activities. Now let us take a look at why institutes need to implement it.</a:t>
            </a:r>
            <a:r>
              <a:rPr lang="en-GB" dirty="0"/>
              <a:t> </a:t>
            </a:r>
            <a:endParaRPr lang="en-IN" dirty="0"/>
          </a:p>
        </p:txBody>
      </p:sp>
    </p:spTree>
    <p:extLst>
      <p:ext uri="{BB962C8B-B14F-4D97-AF65-F5344CB8AC3E}">
        <p14:creationId xmlns:p14="http://schemas.microsoft.com/office/powerpoint/2010/main" val="16965422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E0AE6-112F-4BD1-A6CE-FC89C49AE0C5}"/>
              </a:ext>
            </a:extLst>
          </p:cNvPr>
          <p:cNvSpPr>
            <a:spLocks noGrp="1"/>
          </p:cNvSpPr>
          <p:nvPr>
            <p:ph type="title"/>
          </p:nvPr>
        </p:nvSpPr>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Definition</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061BBB-DEA2-4D9D-B3F0-CC3CA8F6AE7C}"/>
              </a:ext>
            </a:extLst>
          </p:cNvPr>
          <p:cNvSpPr>
            <a:spLocks noGrp="1"/>
          </p:cNvSpPr>
          <p:nvPr>
            <p:ph idx="1"/>
          </p:nvPr>
        </p:nvSpPr>
        <p:spPr/>
        <p:txBody>
          <a:bodyPr>
            <a:normAutofit/>
          </a:bodyPr>
          <a:lstStyle/>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Student Attendance</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Time Wastage</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Student Monitoring</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Maintains Problem</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Forecasting the academic achievement</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Teachers/ Staff Management</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School Administration</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Lake of communication between teachers, students and their parents</a:t>
            </a:r>
          </a:p>
          <a:p>
            <a:pPr>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Fee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2552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244BE-F0A8-487F-82E5-4FA1F59BF6E9}"/>
              </a:ext>
            </a:extLst>
          </p:cNvPr>
          <p:cNvSpPr>
            <a:spLocks noGrp="1"/>
          </p:cNvSpPr>
          <p:nvPr>
            <p:ph type="title"/>
          </p:nvPr>
        </p:nvSpPr>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76189E-3C48-492F-ACCC-F2159B8E586E}"/>
              </a:ext>
            </a:extLst>
          </p:cNvPr>
          <p:cNvSpPr>
            <a:spLocks noGrp="1"/>
          </p:cNvSpPr>
          <p:nvPr>
            <p:ph idx="1"/>
          </p:nvPr>
        </p:nvSpPr>
        <p:spPr/>
        <p:txBody>
          <a:bodyPr>
            <a:normAutofit/>
          </a:bodyPr>
          <a:lstStyle/>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It is designed for better interaction between students, teachers, parents, and management. This management software very greatly handles all the requirements for easy school management.</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Maintaining student details and information, registering students, and teacher’s information.</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Giving Access to parents to view their children information regarding their performance.</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Enabling admin, teachers, students, and parents to stay in touch with each other.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859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4121C-7E3C-4FD9-BF59-B250D535ECF3}"/>
              </a:ext>
            </a:extLst>
          </p:cNvPr>
          <p:cNvSpPr>
            <a:spLocks noGrp="1"/>
          </p:cNvSpPr>
          <p:nvPr>
            <p:ph type="title"/>
          </p:nvPr>
        </p:nvSpPr>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Scope for Work</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4E9E4E-997A-4FC1-9753-B309520F49E8}"/>
              </a:ext>
            </a:extLst>
          </p:cNvPr>
          <p:cNvSpPr>
            <a:spLocks noGrp="1"/>
          </p:cNvSpPr>
          <p:nvPr>
            <p:ph idx="1"/>
          </p:nvPr>
        </p:nvSpPr>
        <p:spPr>
          <a:xfrm>
            <a:off x="2589212" y="1905000"/>
            <a:ext cx="8915400" cy="4006222"/>
          </a:xfrm>
        </p:spPr>
        <p:txBody>
          <a:bodyPr>
            <a:normAutofit fontScale="92500" lnSpcReduction="20000"/>
          </a:bodyPr>
          <a:lstStyle/>
          <a:p>
            <a:pPr marL="0" indent="0">
              <a:buNone/>
            </a:pPr>
            <a:r>
              <a:rPr lang="en-GB" sz="2000" dirty="0">
                <a:latin typeface="Times New Roman" panose="02020603050405020304" pitchFamily="18" charset="0"/>
                <a:cs typeface="Times New Roman" panose="02020603050405020304" pitchFamily="18" charset="0"/>
              </a:rPr>
              <a:t>The purpose is to make people life easier. This project is used to manage the school system and will organise the work inside the school and will perform the following task </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Fees management.</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Teacher information management.</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Administration management.</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Student information management.</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Management of parent portal.</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Attendance.</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Manage Marks of student.</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Manage Class and Exam Timetable Schedule. </a:t>
            </a:r>
          </a:p>
          <a:p>
            <a:pPr>
              <a:buFont typeface="Wingdings" panose="05000000000000000000" pitchFamily="2" charset="2"/>
              <a:buChar char="q"/>
            </a:pPr>
            <a:r>
              <a:rPr lang="en-GB" sz="2000" dirty="0">
                <a:latin typeface="Times New Roman" panose="02020603050405020304" pitchFamily="18" charset="0"/>
                <a:cs typeface="Times New Roman" panose="02020603050405020304" pitchFamily="18" charset="0"/>
              </a:rPr>
              <a:t>Notice Board.</a:t>
            </a: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85002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323E-9911-4B4E-87D7-EFDB649631CE}"/>
              </a:ext>
            </a:extLst>
          </p:cNvPr>
          <p:cNvSpPr>
            <a:spLocks noGrp="1"/>
          </p:cNvSpPr>
          <p:nvPr>
            <p:ph type="title"/>
          </p:nvPr>
        </p:nvSpPr>
        <p:spPr>
          <a:xfrm>
            <a:off x="2592925" y="624110"/>
            <a:ext cx="8911687" cy="673062"/>
          </a:xfrm>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Functional Requirements</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8C3E92-5D99-4601-AB01-87FD7C05C0AF}"/>
              </a:ext>
            </a:extLst>
          </p:cNvPr>
          <p:cNvSpPr>
            <a:spLocks noGrp="1"/>
          </p:cNvSpPr>
          <p:nvPr>
            <p:ph idx="1"/>
          </p:nvPr>
        </p:nvSpPr>
        <p:spPr>
          <a:xfrm>
            <a:off x="2589212" y="1509823"/>
            <a:ext cx="8915400" cy="5029200"/>
          </a:xfrm>
        </p:spPr>
        <p:txBody>
          <a:bodyPr>
            <a:normAutofit fontScale="85000" lnSpcReduction="10000"/>
          </a:bodyPr>
          <a:lstStyle/>
          <a:p>
            <a:pPr>
              <a:buFont typeface="Wingdings" panose="05000000000000000000" pitchFamily="2" charset="2"/>
              <a:buChar char="q"/>
            </a:pPr>
            <a:r>
              <a:rPr lang="en-GB" sz="2000" b="1" u="sng" dirty="0">
                <a:latin typeface="Times New Roman" panose="02020603050405020304" pitchFamily="18" charset="0"/>
                <a:cs typeface="Times New Roman" panose="02020603050405020304" pitchFamily="18" charset="0"/>
              </a:rPr>
              <a:t>Hardware Requirements:</a:t>
            </a:r>
          </a:p>
          <a:p>
            <a:pPr lvl="1">
              <a:lnSpc>
                <a:spcPct val="115000"/>
              </a:lnSpc>
              <a:spcAft>
                <a:spcPts val="415"/>
              </a:spcAft>
              <a:buFont typeface="Arial" panose="020B0604020202020204" pitchFamily="34" charset="0"/>
              <a:buChar char="•"/>
            </a:pPr>
            <a:r>
              <a:rPr lang="en-IN" sz="1800" b="1" dirty="0">
                <a:solidFill>
                  <a:srgbClr val="000000"/>
                </a:solidFill>
                <a:effectLst/>
                <a:latin typeface="Times New Roman" panose="02020603050405020304" pitchFamily="18" charset="0"/>
                <a:ea typeface="Calibri" panose="020F0502020204030204" pitchFamily="34" charset="0"/>
              </a:rPr>
              <a:t>Processor : - </a:t>
            </a:r>
            <a:r>
              <a:rPr lang="en-IN" sz="1800" dirty="0">
                <a:solidFill>
                  <a:srgbClr val="000000"/>
                </a:solidFill>
                <a:effectLst/>
                <a:latin typeface="Times New Roman" panose="02020603050405020304" pitchFamily="18" charset="0"/>
                <a:ea typeface="Calibri" panose="020F0502020204030204" pitchFamily="34" charset="0"/>
              </a:rPr>
              <a:t>Intel Core i3/i5 &amp; above.</a:t>
            </a:r>
            <a:endParaRPr lang="en-IN" sz="1800" dirty="0">
              <a:effectLst/>
              <a:latin typeface="Courier New" panose="02070309020205020404" pitchFamily="49" charset="0"/>
              <a:ea typeface="Courier New" panose="02070309020205020404" pitchFamily="49" charset="0"/>
            </a:endParaRPr>
          </a:p>
          <a:p>
            <a:pPr lvl="1">
              <a:lnSpc>
                <a:spcPct val="115000"/>
              </a:lnSpc>
              <a:spcAft>
                <a:spcPts val="415"/>
              </a:spcAft>
              <a:buFont typeface="Arial" panose="020B0604020202020204" pitchFamily="34" charset="0"/>
              <a:buChar char="•"/>
            </a:pPr>
            <a:r>
              <a:rPr lang="en-IN" sz="1800" b="1" dirty="0">
                <a:solidFill>
                  <a:srgbClr val="000000"/>
                </a:solidFill>
                <a:effectLst/>
                <a:latin typeface="Times New Roman" panose="02020603050405020304" pitchFamily="18" charset="0"/>
                <a:ea typeface="Calibri" panose="020F0502020204030204" pitchFamily="34" charset="0"/>
              </a:rPr>
              <a:t>Ram :-           </a:t>
            </a:r>
            <a:r>
              <a:rPr lang="en-IN" sz="1800" dirty="0">
                <a:solidFill>
                  <a:srgbClr val="000000"/>
                </a:solidFill>
                <a:effectLst/>
                <a:latin typeface="Times New Roman" panose="02020603050405020304" pitchFamily="18" charset="0"/>
                <a:ea typeface="Calibri" panose="020F0502020204030204" pitchFamily="34" charset="0"/>
              </a:rPr>
              <a:t>4GB/8GB &amp; above.</a:t>
            </a:r>
            <a:endParaRPr lang="en-IN" sz="1800" dirty="0">
              <a:effectLst/>
              <a:latin typeface="Courier New" panose="02070309020205020404" pitchFamily="49" charset="0"/>
              <a:ea typeface="Courier New" panose="02070309020205020404" pitchFamily="49" charset="0"/>
            </a:endParaRPr>
          </a:p>
          <a:p>
            <a:pPr lvl="1">
              <a:lnSpc>
                <a:spcPct val="115000"/>
              </a:lnSpc>
              <a:buFont typeface="Arial" panose="020B0604020202020204" pitchFamily="34" charset="0"/>
              <a:buChar char="•"/>
            </a:pPr>
            <a:r>
              <a:rPr lang="en-IN" sz="1800" b="1" dirty="0">
                <a:solidFill>
                  <a:srgbClr val="000000"/>
                </a:solidFill>
                <a:effectLst/>
                <a:latin typeface="Times New Roman" panose="02020603050405020304" pitchFamily="18" charset="0"/>
                <a:ea typeface="Calibri" panose="020F0502020204030204" pitchFamily="34" charset="0"/>
              </a:rPr>
              <a:t>Storage :-</a:t>
            </a:r>
            <a:r>
              <a:rPr lang="en-IN" sz="1800" dirty="0">
                <a:solidFill>
                  <a:srgbClr val="000000"/>
                </a:solidFill>
                <a:effectLst/>
                <a:latin typeface="Times New Roman" panose="02020603050405020304" pitchFamily="18" charset="0"/>
                <a:ea typeface="Calibri" panose="020F0502020204030204" pitchFamily="34" charset="0"/>
              </a:rPr>
              <a:t>      100GB HDD/ 256GB SSD &amp; above. </a:t>
            </a:r>
            <a:endParaRPr lang="en-IN" sz="1800" dirty="0">
              <a:effectLst/>
              <a:latin typeface="Courier New" panose="02070309020205020404" pitchFamily="49" charset="0"/>
              <a:ea typeface="Courier New" panose="02070309020205020404" pitchFamily="49" charset="0"/>
            </a:endParaRPr>
          </a:p>
          <a:p>
            <a:pPr lvl="1">
              <a:buFont typeface="Arial" panose="020B0604020202020204" pitchFamily="34" charset="0"/>
              <a:buChar char="•"/>
            </a:pPr>
            <a:r>
              <a:rPr lang="en-IN" sz="1800" b="1" dirty="0">
                <a:solidFill>
                  <a:srgbClr val="000000"/>
                </a:solidFill>
                <a:effectLst/>
                <a:latin typeface="Times New Roman" panose="02020603050405020304" pitchFamily="18" charset="0"/>
                <a:ea typeface="Calibri" panose="020F0502020204030204" pitchFamily="34" charset="0"/>
              </a:rPr>
              <a:t>Network :</a:t>
            </a:r>
            <a:r>
              <a:rPr lang="en-IN" sz="1800" dirty="0">
                <a:solidFill>
                  <a:srgbClr val="000000"/>
                </a:solidFill>
                <a:effectLst/>
                <a:latin typeface="Times New Roman" panose="02020603050405020304" pitchFamily="18" charset="0"/>
                <a:ea typeface="Calibri" panose="020F0502020204030204" pitchFamily="34" charset="0"/>
              </a:rPr>
              <a:t>-     Stable Internet Connection.</a:t>
            </a:r>
          </a:p>
          <a:p>
            <a:pPr>
              <a:buFont typeface="Wingdings" panose="05000000000000000000" pitchFamily="2" charset="2"/>
              <a:buChar char="q"/>
            </a:pPr>
            <a:r>
              <a:rPr lang="en-GB" sz="2000" b="1" u="sng" dirty="0">
                <a:latin typeface="Times New Roman" panose="02020603050405020304" pitchFamily="18" charset="0"/>
                <a:cs typeface="Times New Roman" panose="02020603050405020304" pitchFamily="18" charset="0"/>
              </a:rPr>
              <a:t>Software Requirements:</a:t>
            </a:r>
          </a:p>
          <a:p>
            <a:pPr lvl="1" indent="-342900">
              <a:lnSpc>
                <a:spcPct val="115000"/>
              </a:lnSpc>
              <a:spcAft>
                <a:spcPts val="245"/>
              </a:spcAft>
              <a:buFont typeface="Arial" panose="020B0604020202020204" pitchFamily="34" charset="0"/>
              <a:buChar char="•"/>
            </a:pPr>
            <a:r>
              <a:rPr lang="en-IN" sz="1900" b="1" dirty="0">
                <a:solidFill>
                  <a:srgbClr val="000000"/>
                </a:solidFill>
                <a:effectLst/>
                <a:latin typeface="Times New Roman" panose="02020603050405020304" pitchFamily="18" charset="0"/>
                <a:ea typeface="Calibri" panose="020F0502020204030204" pitchFamily="34" charset="0"/>
              </a:rPr>
              <a:t>Operating System :- </a:t>
            </a:r>
            <a:r>
              <a:rPr lang="en-IN" sz="1900" dirty="0">
                <a:solidFill>
                  <a:srgbClr val="000000"/>
                </a:solidFill>
                <a:effectLst/>
                <a:latin typeface="Times New Roman" panose="02020603050405020304" pitchFamily="18" charset="0"/>
                <a:ea typeface="Calibri" panose="020F0502020204030204" pitchFamily="34" charset="0"/>
              </a:rPr>
              <a:t>Windows 10/11, </a:t>
            </a:r>
            <a:r>
              <a:rPr lang="en-IN" sz="1900" dirty="0" err="1">
                <a:solidFill>
                  <a:srgbClr val="000000"/>
                </a:solidFill>
                <a:effectLst/>
                <a:latin typeface="Times New Roman" panose="02020603050405020304" pitchFamily="18" charset="0"/>
                <a:ea typeface="Calibri" panose="020F0502020204030204" pitchFamily="34" charset="0"/>
              </a:rPr>
              <a:t>MacOs</a:t>
            </a:r>
            <a:r>
              <a:rPr lang="en-IN" sz="1900" dirty="0">
                <a:solidFill>
                  <a:srgbClr val="000000"/>
                </a:solidFill>
                <a:effectLst/>
                <a:latin typeface="Times New Roman" panose="02020603050405020304" pitchFamily="18" charset="0"/>
                <a:ea typeface="Calibri" panose="020F0502020204030204" pitchFamily="34" charset="0"/>
              </a:rPr>
              <a:t>, Linux.</a:t>
            </a:r>
            <a:endParaRPr lang="en-IN" sz="1900" dirty="0">
              <a:effectLst/>
              <a:latin typeface="Courier New" panose="02070309020205020404" pitchFamily="49" charset="0"/>
              <a:ea typeface="Courier New" panose="02070309020205020404" pitchFamily="49" charset="0"/>
            </a:endParaRPr>
          </a:p>
          <a:p>
            <a:pPr lvl="1" indent="-342900">
              <a:lnSpc>
                <a:spcPct val="115000"/>
              </a:lnSpc>
              <a:spcAft>
                <a:spcPts val="245"/>
              </a:spcAft>
              <a:buFont typeface="Arial" panose="020B0604020202020204" pitchFamily="34" charset="0"/>
              <a:buChar char="•"/>
            </a:pPr>
            <a:r>
              <a:rPr lang="en-IN" sz="1900" b="1" dirty="0">
                <a:solidFill>
                  <a:srgbClr val="000000"/>
                </a:solidFill>
                <a:effectLst/>
                <a:latin typeface="Times New Roman" panose="02020603050405020304" pitchFamily="18" charset="0"/>
                <a:ea typeface="Calibri" panose="020F0502020204030204" pitchFamily="34" charset="0"/>
              </a:rPr>
              <a:t>Language :-</a:t>
            </a:r>
            <a:r>
              <a:rPr lang="en-IN" sz="1900" dirty="0">
                <a:solidFill>
                  <a:srgbClr val="000000"/>
                </a:solidFill>
                <a:effectLst/>
                <a:latin typeface="Times New Roman" panose="02020603050405020304" pitchFamily="18" charset="0"/>
                <a:ea typeface="Calibri" panose="020F0502020204030204" pitchFamily="34" charset="0"/>
              </a:rPr>
              <a:t>               HTML, CSS, JavaScript, PHP Framework (Laravel).</a:t>
            </a:r>
            <a:endParaRPr lang="en-IN" sz="1900" dirty="0">
              <a:effectLst/>
              <a:latin typeface="Courier New" panose="02070309020205020404" pitchFamily="49" charset="0"/>
              <a:ea typeface="Courier New" panose="02070309020205020404" pitchFamily="49" charset="0"/>
            </a:endParaRPr>
          </a:p>
          <a:p>
            <a:pPr lvl="1" indent="-342900">
              <a:lnSpc>
                <a:spcPct val="115000"/>
              </a:lnSpc>
              <a:spcAft>
                <a:spcPts val="245"/>
              </a:spcAft>
              <a:buFont typeface="Arial" panose="020B0604020202020204" pitchFamily="34" charset="0"/>
              <a:buChar char="•"/>
            </a:pPr>
            <a:r>
              <a:rPr lang="en-IN" sz="1900" b="1" dirty="0">
                <a:solidFill>
                  <a:srgbClr val="000000"/>
                </a:solidFill>
                <a:effectLst/>
                <a:latin typeface="Times New Roman" panose="02020603050405020304" pitchFamily="18" charset="0"/>
                <a:ea typeface="Calibri" panose="020F0502020204030204" pitchFamily="34" charset="0"/>
              </a:rPr>
              <a:t>Server :- </a:t>
            </a:r>
            <a:r>
              <a:rPr lang="en-IN" sz="1900" dirty="0">
                <a:solidFill>
                  <a:srgbClr val="000000"/>
                </a:solidFill>
                <a:effectLst/>
                <a:latin typeface="Times New Roman" panose="02020603050405020304" pitchFamily="18" charset="0"/>
                <a:ea typeface="Calibri" panose="020F0502020204030204" pitchFamily="34" charset="0"/>
              </a:rPr>
              <a:t>                    Apache Server (</a:t>
            </a:r>
            <a:r>
              <a:rPr lang="en-IN" sz="1900" dirty="0" err="1">
                <a:solidFill>
                  <a:srgbClr val="000000"/>
                </a:solidFill>
                <a:effectLst/>
                <a:latin typeface="Times New Roman" panose="02020603050405020304" pitchFamily="18" charset="0"/>
                <a:ea typeface="Calibri" panose="020F0502020204030204" pitchFamily="34" charset="0"/>
              </a:rPr>
              <a:t>Laragon</a:t>
            </a:r>
            <a:r>
              <a:rPr lang="en-IN" sz="1900" dirty="0">
                <a:solidFill>
                  <a:srgbClr val="000000"/>
                </a:solidFill>
                <a:effectLst/>
                <a:latin typeface="Times New Roman" panose="02020603050405020304" pitchFamily="18" charset="0"/>
                <a:ea typeface="Calibri" panose="020F0502020204030204" pitchFamily="34" charset="0"/>
              </a:rPr>
              <a:t>).</a:t>
            </a:r>
            <a:endParaRPr lang="en-IN" sz="1900" dirty="0">
              <a:effectLst/>
              <a:latin typeface="Courier New" panose="02070309020205020404" pitchFamily="49" charset="0"/>
              <a:ea typeface="Courier New" panose="02070309020205020404" pitchFamily="49" charset="0"/>
            </a:endParaRPr>
          </a:p>
          <a:p>
            <a:pPr lvl="1" indent="-342900">
              <a:lnSpc>
                <a:spcPct val="115000"/>
              </a:lnSpc>
              <a:spcAft>
                <a:spcPts val="245"/>
              </a:spcAft>
              <a:buFont typeface="Arial" panose="020B0604020202020204" pitchFamily="34" charset="0"/>
              <a:buChar char="•"/>
            </a:pPr>
            <a:r>
              <a:rPr lang="en-IN" sz="1900" b="1" dirty="0">
                <a:solidFill>
                  <a:srgbClr val="000000"/>
                </a:solidFill>
                <a:effectLst/>
                <a:latin typeface="Times New Roman" panose="02020603050405020304" pitchFamily="18" charset="0"/>
                <a:ea typeface="Calibri" panose="020F0502020204030204" pitchFamily="34" charset="0"/>
              </a:rPr>
              <a:t>Database :-</a:t>
            </a:r>
            <a:r>
              <a:rPr lang="en-IN" sz="1900" dirty="0">
                <a:solidFill>
                  <a:srgbClr val="000000"/>
                </a:solidFill>
                <a:effectLst/>
                <a:latin typeface="Times New Roman" panose="02020603050405020304" pitchFamily="18" charset="0"/>
                <a:ea typeface="Calibri" panose="020F0502020204030204" pitchFamily="34" charset="0"/>
              </a:rPr>
              <a:t>                 MySQL (PhpMyAdmin).</a:t>
            </a:r>
            <a:endParaRPr lang="en-IN" sz="1900" dirty="0">
              <a:effectLst/>
              <a:latin typeface="Courier New" panose="02070309020205020404" pitchFamily="49" charset="0"/>
              <a:ea typeface="Courier New" panose="02070309020205020404" pitchFamily="49" charset="0"/>
            </a:endParaRPr>
          </a:p>
          <a:p>
            <a:pPr lvl="1" indent="-342900">
              <a:lnSpc>
                <a:spcPct val="115000"/>
              </a:lnSpc>
              <a:spcAft>
                <a:spcPts val="245"/>
              </a:spcAft>
              <a:buFont typeface="Arial" panose="020B0604020202020204" pitchFamily="34" charset="0"/>
              <a:buChar char="•"/>
            </a:pPr>
            <a:r>
              <a:rPr lang="en-GB" sz="1900" b="1" dirty="0">
                <a:effectLst/>
                <a:latin typeface="Times New Roman" panose="02020603050405020304" pitchFamily="18" charset="0"/>
                <a:ea typeface="Courier New" panose="02070309020205020404" pitchFamily="49" charset="0"/>
              </a:rPr>
              <a:t>Development Tools</a:t>
            </a:r>
            <a:r>
              <a:rPr lang="en-GB" sz="1900" dirty="0">
                <a:solidFill>
                  <a:srgbClr val="000000"/>
                </a:solidFill>
                <a:effectLst/>
                <a:latin typeface="Times New Roman" panose="02020603050405020304" pitchFamily="18" charset="0"/>
                <a:ea typeface="Calibri" panose="020F0502020204030204" pitchFamily="34" charset="0"/>
              </a:rPr>
              <a:t> </a:t>
            </a:r>
            <a:r>
              <a:rPr lang="en-IN" sz="1900" dirty="0">
                <a:solidFill>
                  <a:srgbClr val="000000"/>
                </a:solidFill>
                <a:effectLst/>
                <a:latin typeface="Times New Roman" panose="02020603050405020304" pitchFamily="18" charset="0"/>
                <a:ea typeface="Calibri" panose="020F0502020204030204" pitchFamily="34" charset="0"/>
              </a:rPr>
              <a:t>:-   Visual Studio Code.</a:t>
            </a:r>
            <a:endParaRPr lang="en-IN" sz="1900" dirty="0">
              <a:effectLst/>
              <a:latin typeface="Courier New" panose="02070309020205020404" pitchFamily="49" charset="0"/>
              <a:ea typeface="Courier New" panose="02070309020205020404" pitchFamily="49" charset="0"/>
            </a:endParaRPr>
          </a:p>
          <a:p>
            <a:pPr lvl="1" indent="-342900">
              <a:lnSpc>
                <a:spcPct val="115000"/>
              </a:lnSpc>
              <a:buFont typeface="Arial" panose="020B0604020202020204" pitchFamily="34" charset="0"/>
              <a:buChar char="•"/>
            </a:pPr>
            <a:r>
              <a:rPr lang="en-IN" sz="1900" b="1" dirty="0">
                <a:solidFill>
                  <a:srgbClr val="000000"/>
                </a:solidFill>
                <a:effectLst/>
                <a:latin typeface="Times New Roman" panose="02020603050405020304" pitchFamily="18" charset="0"/>
                <a:ea typeface="Calibri" panose="020F0502020204030204" pitchFamily="34" charset="0"/>
              </a:rPr>
              <a:t>Browser :-</a:t>
            </a:r>
            <a:r>
              <a:rPr lang="en-IN" sz="1900" dirty="0">
                <a:solidFill>
                  <a:srgbClr val="000000"/>
                </a:solidFill>
                <a:effectLst/>
                <a:latin typeface="Times New Roman" panose="02020603050405020304" pitchFamily="18" charset="0"/>
                <a:ea typeface="Calibri" panose="020F0502020204030204" pitchFamily="34" charset="0"/>
              </a:rPr>
              <a:t>                  Any Web Browser (Google Chrome, </a:t>
            </a:r>
            <a:r>
              <a:rPr lang="en-IN" sz="1900" dirty="0" err="1">
                <a:solidFill>
                  <a:srgbClr val="000000"/>
                </a:solidFill>
                <a:effectLst/>
                <a:latin typeface="Times New Roman" panose="02020603050405020304" pitchFamily="18" charset="0"/>
                <a:ea typeface="Calibri" panose="020F0502020204030204" pitchFamily="34" charset="0"/>
              </a:rPr>
              <a:t>Mozill</a:t>
            </a:r>
            <a:r>
              <a:rPr lang="en-IN" sz="1900" dirty="0">
                <a:solidFill>
                  <a:srgbClr val="000000"/>
                </a:solidFill>
                <a:effectLst/>
                <a:latin typeface="Times New Roman" panose="02020603050405020304" pitchFamily="18" charset="0"/>
                <a:ea typeface="Calibri" panose="020F0502020204030204" pitchFamily="34" charset="0"/>
              </a:rPr>
              <a:t> </a:t>
            </a:r>
            <a:r>
              <a:rPr lang="en-IN" sz="1900" dirty="0" err="1">
                <a:solidFill>
                  <a:srgbClr val="000000"/>
                </a:solidFill>
                <a:effectLst/>
                <a:latin typeface="Times New Roman" panose="02020603050405020304" pitchFamily="18" charset="0"/>
                <a:ea typeface="Calibri" panose="020F0502020204030204" pitchFamily="34" charset="0"/>
              </a:rPr>
              <a:t>FireFox</a:t>
            </a:r>
            <a:r>
              <a:rPr lang="en-IN" sz="1900" dirty="0">
                <a:solidFill>
                  <a:srgbClr val="000000"/>
                </a:solidFill>
                <a:effectLst/>
                <a:latin typeface="Times New Roman" panose="02020603050405020304" pitchFamily="18" charset="0"/>
                <a:ea typeface="Calibri" panose="020F0502020204030204" pitchFamily="34" charset="0"/>
              </a:rPr>
              <a:t>). </a:t>
            </a:r>
          </a:p>
          <a:p>
            <a:pPr lvl="1" indent="-342900">
              <a:lnSpc>
                <a:spcPct val="115000"/>
              </a:lnSpc>
              <a:buFont typeface="Arial" panose="020B0604020202020204" pitchFamily="34" charset="0"/>
              <a:buChar char="•"/>
            </a:pPr>
            <a:r>
              <a:rPr lang="en-IN" sz="1900" b="1" dirty="0">
                <a:solidFill>
                  <a:srgbClr val="000000"/>
                </a:solidFill>
                <a:effectLst/>
                <a:latin typeface="Times New Roman" panose="02020603050405020304" pitchFamily="18" charset="0"/>
                <a:ea typeface="Calibri" panose="020F0502020204030204" pitchFamily="34" charset="0"/>
              </a:rPr>
              <a:t>Security :-                    </a:t>
            </a:r>
            <a:r>
              <a:rPr lang="en-IN" sz="1900" dirty="0" err="1">
                <a:solidFill>
                  <a:srgbClr val="000000"/>
                </a:solidFill>
                <a:effectLst/>
                <a:latin typeface="Times New Roman" panose="02020603050405020304" pitchFamily="18" charset="0"/>
                <a:ea typeface="Calibri" panose="020F0502020204030204" pitchFamily="34" charset="0"/>
              </a:rPr>
              <a:t>bcrypt</a:t>
            </a:r>
            <a:r>
              <a:rPr lang="en-IN" sz="1900" dirty="0">
                <a:solidFill>
                  <a:srgbClr val="000000"/>
                </a:solidFill>
                <a:effectLst/>
                <a:latin typeface="Times New Roman" panose="02020603050405020304" pitchFamily="18" charset="0"/>
                <a:ea typeface="Calibri" panose="020F0502020204030204" pitchFamily="34" charset="0"/>
              </a:rPr>
              <a:t> for password encryption.</a:t>
            </a:r>
            <a:endParaRPr lang="en-IN" sz="19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2643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F67E-B1DE-4AA1-886E-80F239C2CE17}"/>
              </a:ext>
            </a:extLst>
          </p:cNvPr>
          <p:cNvSpPr>
            <a:spLocks noGrp="1"/>
          </p:cNvSpPr>
          <p:nvPr>
            <p:ph type="title"/>
          </p:nvPr>
        </p:nvSpPr>
        <p:spPr>
          <a:xfrm>
            <a:off x="2592925" y="624110"/>
            <a:ext cx="8911687" cy="1204690"/>
          </a:xfrm>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 Functional Requirements</a:t>
            </a:r>
            <a:endParaRPr lang="en-IN" dirty="0"/>
          </a:p>
        </p:txBody>
      </p:sp>
      <p:sp>
        <p:nvSpPr>
          <p:cNvPr id="3" name="Content Placeholder 2">
            <a:extLst>
              <a:ext uri="{FF2B5EF4-FFF2-40B4-BE49-F238E27FC236}">
                <a16:creationId xmlns:a16="http://schemas.microsoft.com/office/drawing/2014/main" id="{DFD3159A-25EF-4FFE-ADA8-2E78B5E0FFAA}"/>
              </a:ext>
            </a:extLst>
          </p:cNvPr>
          <p:cNvSpPr>
            <a:spLocks noGrp="1"/>
          </p:cNvSpPr>
          <p:nvPr>
            <p:ph idx="1"/>
          </p:nvPr>
        </p:nvSpPr>
        <p:spPr/>
        <p:txBody>
          <a:bodyPr>
            <a:normAutofit/>
          </a:bodyPr>
          <a:lstStyle/>
          <a:p>
            <a:pPr marL="0" indent="0">
              <a:buNone/>
            </a:pPr>
            <a:r>
              <a:rPr lang="en-GB" sz="2200" dirty="0">
                <a:latin typeface="Times New Roman" panose="02020603050405020304" pitchFamily="18" charset="0"/>
                <a:cs typeface="Times New Roman" panose="02020603050405020304" pitchFamily="18" charset="0"/>
              </a:rPr>
              <a:t>The system should be easy to use.</a:t>
            </a:r>
          </a:p>
          <a:p>
            <a:pPr marL="0" indent="0">
              <a:buNone/>
            </a:pPr>
            <a:r>
              <a:rPr lang="en-GB" sz="2200" dirty="0">
                <a:latin typeface="Times New Roman" panose="02020603050405020304" pitchFamily="18" charset="0"/>
                <a:cs typeface="Times New Roman" panose="02020603050405020304" pitchFamily="18" charset="0"/>
              </a:rPr>
              <a:t>The System should be available 24 hours.</a:t>
            </a:r>
          </a:p>
          <a:p>
            <a:pPr marL="0" indent="0">
              <a:buNone/>
            </a:pPr>
            <a:r>
              <a:rPr lang="en-GB" sz="2200" dirty="0">
                <a:latin typeface="Times New Roman" panose="02020603050405020304" pitchFamily="18" charset="0"/>
                <a:cs typeface="Times New Roman" panose="02020603050405020304" pitchFamily="18" charset="0"/>
              </a:rPr>
              <a:t>The system should response at the time.</a:t>
            </a:r>
          </a:p>
          <a:p>
            <a:pPr marL="0" indent="0">
              <a:buNone/>
            </a:pPr>
            <a:r>
              <a:rPr lang="en-GB" sz="2200" dirty="0">
                <a:latin typeface="Times New Roman" panose="02020603050405020304" pitchFamily="18" charset="0"/>
                <a:cs typeface="Times New Roman" panose="02020603050405020304" pitchFamily="18" charset="0"/>
              </a:rPr>
              <a:t>System should provide specific information to specific user.</a:t>
            </a:r>
          </a:p>
          <a:p>
            <a:pPr marL="0" indent="0">
              <a:buNone/>
            </a:pPr>
            <a:r>
              <a:rPr lang="en-GB" sz="2200" dirty="0">
                <a:latin typeface="Times New Roman" panose="02020603050405020304" pitchFamily="18" charset="0"/>
                <a:cs typeface="Times New Roman" panose="02020603050405020304" pitchFamily="18" charset="0"/>
              </a:rPr>
              <a:t>The system should not fail.</a:t>
            </a:r>
          </a:p>
          <a:p>
            <a:pPr marL="0" indent="0">
              <a:buNone/>
            </a:pPr>
            <a:r>
              <a:rPr lang="en-GB" sz="2200" dirty="0">
                <a:latin typeface="Times New Roman" panose="02020603050405020304" pitchFamily="18" charset="0"/>
                <a:cs typeface="Times New Roman" panose="02020603050405020304" pitchFamily="18" charset="0"/>
              </a:rPr>
              <a:t>Right information is available to right student and teacher at right time.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6291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D465F-B8C9-4C9A-A4C9-36F7F6C8F7BE}"/>
              </a:ext>
            </a:extLst>
          </p:cNvPr>
          <p:cNvSpPr>
            <a:spLocks noGrp="1"/>
          </p:cNvSpPr>
          <p:nvPr>
            <p:ph type="title"/>
          </p:nvPr>
        </p:nvSpPr>
        <p:spPr/>
        <p:txBody>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Advantages/Benefits</a:t>
            </a:r>
            <a:endParaRPr lang="en-IN"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45BD73-2C5A-47B7-8C24-A9FAA4C60221}"/>
              </a:ext>
            </a:extLst>
          </p:cNvPr>
          <p:cNvSpPr>
            <a:spLocks noGrp="1"/>
          </p:cNvSpPr>
          <p:nvPr>
            <p:ph idx="1"/>
          </p:nvPr>
        </p:nvSpPr>
        <p:spPr/>
        <p:txBody>
          <a:bodyPr>
            <a:normAutofit/>
          </a:bodyPr>
          <a:lstStyle/>
          <a:p>
            <a:pPr lvl="0">
              <a:lnSpc>
                <a:spcPct val="115000"/>
              </a:lnSpc>
              <a:spcAft>
                <a:spcPts val="600"/>
              </a:spcAft>
              <a:buSzPts val="1000"/>
              <a:buFont typeface="Wingdings" panose="05000000000000000000" pitchFamily="2" charset="2"/>
              <a:buChar char="q"/>
              <a:tabLst>
                <a:tab pos="457200" algn="l"/>
              </a:tabLst>
            </a:pPr>
            <a:r>
              <a:rPr lang="en-IN" sz="1800" b="1"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Improved communication</a:t>
            </a:r>
            <a:r>
              <a:rPr lang="en-IN" sz="1800"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 Teachers, students, and parents can communicate more easily. </a:t>
            </a:r>
            <a:endParaRPr lang="en-IN" sz="1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0">
              <a:lnSpc>
                <a:spcPct val="115000"/>
              </a:lnSpc>
              <a:spcAft>
                <a:spcPts val="600"/>
              </a:spcAft>
              <a:buSzPts val="1000"/>
              <a:buFont typeface="Wingdings" panose="05000000000000000000" pitchFamily="2" charset="2"/>
              <a:buChar char="q"/>
              <a:tabLst>
                <a:tab pos="457200" algn="l"/>
              </a:tabLst>
            </a:pPr>
            <a:r>
              <a:rPr lang="en-IN" sz="1800" b="1"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Enhanced efficiency</a:t>
            </a:r>
            <a:r>
              <a:rPr lang="en-IN" sz="1800"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 Schools can save time and money by reducing manual record-keeping and data processing errors. </a:t>
            </a:r>
            <a:endParaRPr lang="en-IN" sz="1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0">
              <a:lnSpc>
                <a:spcPct val="115000"/>
              </a:lnSpc>
              <a:spcAft>
                <a:spcPts val="600"/>
              </a:spcAft>
              <a:buSzPts val="1000"/>
              <a:buFont typeface="Wingdings" panose="05000000000000000000" pitchFamily="2" charset="2"/>
              <a:buChar char="q"/>
              <a:tabLst>
                <a:tab pos="457200" algn="l"/>
              </a:tabLst>
            </a:pPr>
            <a:r>
              <a:rPr lang="en-IN" sz="1800" b="1"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Improved student experience</a:t>
            </a:r>
            <a:r>
              <a:rPr lang="en-IN" sz="1800"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 Schools can provide a seamless educational experience by tracking student progress, attendance, and course completion. </a:t>
            </a:r>
            <a:endParaRPr lang="en-IN" sz="1800" dirty="0">
              <a:effectLst/>
              <a:latin typeface="Times New Roman" panose="02020603050405020304" pitchFamily="18" charset="0"/>
              <a:ea typeface="Courier New" panose="02070309020205020404" pitchFamily="49" charset="0"/>
              <a:cs typeface="Times New Roman" panose="02020603050405020304" pitchFamily="18" charset="0"/>
            </a:endParaRPr>
          </a:p>
          <a:p>
            <a:pPr lvl="0">
              <a:lnSpc>
                <a:spcPct val="115000"/>
              </a:lnSpc>
              <a:spcAft>
                <a:spcPts val="600"/>
              </a:spcAft>
              <a:buSzPts val="1000"/>
              <a:buFont typeface="Wingdings" panose="05000000000000000000" pitchFamily="2" charset="2"/>
              <a:buChar char="q"/>
              <a:tabLst>
                <a:tab pos="457200" algn="l"/>
              </a:tabLst>
            </a:pPr>
            <a:r>
              <a:rPr lang="en-IN" sz="1800" b="1"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Improved teacher-parent relationships</a:t>
            </a:r>
            <a:r>
              <a:rPr lang="en-IN" sz="1800"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 Schools can keep parents updated on their children's learning. </a:t>
            </a:r>
          </a:p>
          <a:p>
            <a:pPr>
              <a:lnSpc>
                <a:spcPct val="115000"/>
              </a:lnSpc>
              <a:spcAft>
                <a:spcPts val="600"/>
              </a:spcAft>
              <a:buSzPts val="1000"/>
              <a:buFont typeface="Wingdings" panose="05000000000000000000" pitchFamily="2" charset="2"/>
              <a:buChar char="q"/>
              <a:tabLst>
                <a:tab pos="457200" algn="l"/>
              </a:tabLst>
            </a:pPr>
            <a:r>
              <a:rPr lang="en-IN" sz="1800" b="1"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Improved human resources management</a:t>
            </a:r>
            <a:r>
              <a:rPr lang="en-IN" sz="1800" dirty="0">
                <a:solidFill>
                  <a:srgbClr val="001D35"/>
                </a:solidFill>
                <a:effectLst/>
                <a:latin typeface="Times New Roman" panose="02020603050405020304" pitchFamily="18" charset="0"/>
                <a:ea typeface="Times New Roman" panose="02020603050405020304" pitchFamily="18" charset="0"/>
                <a:cs typeface="Times New Roman" panose="02020603050405020304" pitchFamily="18" charset="0"/>
              </a:rPr>
              <a:t>: Schools can manage payrolls, leaves, and the hiring process.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460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8B65-D9F0-4C1F-8550-56BA994B2BC5}"/>
              </a:ext>
            </a:extLst>
          </p:cNvPr>
          <p:cNvSpPr>
            <a:spLocks noGrp="1"/>
          </p:cNvSpPr>
          <p:nvPr>
            <p:ph type="title"/>
          </p:nvPr>
        </p:nvSpPr>
        <p:spPr/>
        <p:txBody>
          <a:bodyPr>
            <a:normAutofit/>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t>Entity-Relationship (ER) Diagram</a:t>
            </a:r>
            <a:endParaRPr lang="en-IN" b="1" u="sng" dirty="0">
              <a:solidFill>
                <a:schemeClr val="accent5">
                  <a:lumMod val="75000"/>
                </a:schemeClr>
              </a:solidFill>
              <a:effectLst>
                <a:outerShdw blurRad="38100" dist="38100" dir="2700000" algn="tl">
                  <a:srgbClr val="000000">
                    <a:alpha val="43137"/>
                  </a:srgbClr>
                </a:outerShdw>
              </a:effectLst>
            </a:endParaRPr>
          </a:p>
        </p:txBody>
      </p:sp>
      <p:pic>
        <p:nvPicPr>
          <p:cNvPr id="4" name="image4.png">
            <a:extLst>
              <a:ext uri="{FF2B5EF4-FFF2-40B4-BE49-F238E27FC236}">
                <a16:creationId xmlns:a16="http://schemas.microsoft.com/office/drawing/2014/main" id="{138AC17F-75D6-4DF6-9B14-1098D2223FB2}"/>
              </a:ext>
            </a:extLst>
          </p:cNvPr>
          <p:cNvPicPr>
            <a:picLocks noGrp="1"/>
          </p:cNvPicPr>
          <p:nvPr>
            <p:ph idx="1"/>
          </p:nvPr>
        </p:nvPicPr>
        <p:blipFill>
          <a:blip r:embed="rId2"/>
          <a:srcRect/>
          <a:stretch>
            <a:fillRect/>
          </a:stretch>
        </p:blipFill>
        <p:spPr>
          <a:xfrm>
            <a:off x="2114458" y="1456661"/>
            <a:ext cx="8720118" cy="5220586"/>
          </a:xfrm>
          <a:prstGeom prst="rect">
            <a:avLst/>
          </a:prstGeom>
          <a:ln/>
        </p:spPr>
      </p:pic>
    </p:spTree>
    <p:extLst>
      <p:ext uri="{BB962C8B-B14F-4D97-AF65-F5344CB8AC3E}">
        <p14:creationId xmlns:p14="http://schemas.microsoft.com/office/powerpoint/2010/main" val="41390674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55AD-3FC7-4B72-8EDC-C2DC74F07890}"/>
              </a:ext>
            </a:extLst>
          </p:cNvPr>
          <p:cNvSpPr>
            <a:spLocks noGrp="1"/>
          </p:cNvSpPr>
          <p:nvPr>
            <p:ph type="title"/>
          </p:nvPr>
        </p:nvSpPr>
        <p:spPr>
          <a:xfrm>
            <a:off x="2592925" y="592211"/>
            <a:ext cx="8911687" cy="1481138"/>
          </a:xfrm>
        </p:spPr>
        <p:txBody>
          <a:bodyPr>
            <a:normAutofit fontScale="90000"/>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t>Data Flow Diagram (DFD)</a:t>
            </a:r>
            <a:b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br>
            <a:b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br>
            <a:r>
              <a:rPr lang="en-GB" sz="2400" dirty="0">
                <a:solidFill>
                  <a:schemeClr val="accent5">
                    <a:lumMod val="75000"/>
                  </a:schemeClr>
                </a:solidFill>
                <a:effectLst/>
                <a:latin typeface="Times New Roman" panose="02020603050405020304" pitchFamily="18" charset="0"/>
                <a:ea typeface="Courier New" panose="02070309020205020404" pitchFamily="49" charset="0"/>
              </a:rPr>
              <a:t>DFD Level 0 : School Management System</a:t>
            </a:r>
            <a:endParaRPr lang="en-IN" sz="2400" u="sng" dirty="0">
              <a:solidFill>
                <a:schemeClr val="accent5">
                  <a:lumMod val="75000"/>
                </a:schemeClr>
              </a:solidFill>
              <a:effectLst>
                <a:outerShdw blurRad="38100" dist="38100" dir="2700000" algn="tl">
                  <a:srgbClr val="000000">
                    <a:alpha val="43137"/>
                  </a:srgbClr>
                </a:outerShdw>
              </a:effectLst>
            </a:endParaRPr>
          </a:p>
        </p:txBody>
      </p:sp>
      <p:pic>
        <p:nvPicPr>
          <p:cNvPr id="4" name="Content Placeholder 3">
            <a:extLst>
              <a:ext uri="{FF2B5EF4-FFF2-40B4-BE49-F238E27FC236}">
                <a16:creationId xmlns:a16="http://schemas.microsoft.com/office/drawing/2014/main" id="{011810FE-E352-4FF1-AE2E-95B6C0C52C9C}"/>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11851" y="2404731"/>
            <a:ext cx="5968297" cy="3778250"/>
          </a:xfrm>
          <a:prstGeom prst="rect">
            <a:avLst/>
          </a:prstGeom>
          <a:noFill/>
          <a:ln>
            <a:noFill/>
          </a:ln>
        </p:spPr>
      </p:pic>
    </p:spTree>
    <p:extLst>
      <p:ext uri="{BB962C8B-B14F-4D97-AF65-F5344CB8AC3E}">
        <p14:creationId xmlns:p14="http://schemas.microsoft.com/office/powerpoint/2010/main" val="28664991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E11C4-7272-4766-9254-2A8914DBCF88}"/>
              </a:ext>
            </a:extLst>
          </p:cNvPr>
          <p:cNvSpPr>
            <a:spLocks noGrp="1"/>
          </p:cNvSpPr>
          <p:nvPr>
            <p:ph type="title"/>
          </p:nvPr>
        </p:nvSpPr>
        <p:spPr>
          <a:xfrm>
            <a:off x="2592925" y="624110"/>
            <a:ext cx="8911687" cy="1509490"/>
          </a:xfrm>
        </p:spPr>
        <p:txBody>
          <a:bodyPr>
            <a:normAutofit fontScale="90000"/>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t>Data Flow Diagram (DFD)</a:t>
            </a:r>
            <a:b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br>
            <a:b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br>
            <a:r>
              <a:rPr lang="en-GB" sz="2400" dirty="0">
                <a:solidFill>
                  <a:schemeClr val="accent5">
                    <a:lumMod val="75000"/>
                  </a:schemeClr>
                </a:solidFill>
                <a:effectLst/>
                <a:latin typeface="Times New Roman" panose="02020603050405020304" pitchFamily="18" charset="0"/>
                <a:ea typeface="Courier New" panose="02070309020205020404" pitchFamily="49" charset="0"/>
              </a:rPr>
              <a:t>DFD Level 1 : School Management System (Admin)</a:t>
            </a:r>
            <a:endParaRPr lang="en-IN" sz="2400" dirty="0"/>
          </a:p>
        </p:txBody>
      </p:sp>
      <p:pic>
        <p:nvPicPr>
          <p:cNvPr id="4" name="Content Placeholder 3">
            <a:extLst>
              <a:ext uri="{FF2B5EF4-FFF2-40B4-BE49-F238E27FC236}">
                <a16:creationId xmlns:a16="http://schemas.microsoft.com/office/drawing/2014/main" id="{376EB65C-3FFB-4B82-B436-6347C8AF48F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49795" y="2133600"/>
            <a:ext cx="8346558" cy="4501116"/>
          </a:xfrm>
          <a:prstGeom prst="rect">
            <a:avLst/>
          </a:prstGeom>
          <a:noFill/>
          <a:ln>
            <a:noFill/>
          </a:ln>
        </p:spPr>
      </p:pic>
    </p:spTree>
    <p:extLst>
      <p:ext uri="{BB962C8B-B14F-4D97-AF65-F5344CB8AC3E}">
        <p14:creationId xmlns:p14="http://schemas.microsoft.com/office/powerpoint/2010/main" val="36599744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AC058-6B02-48F0-BD0A-88C5FF350759}"/>
              </a:ext>
            </a:extLst>
          </p:cNvPr>
          <p:cNvSpPr>
            <a:spLocks noGrp="1"/>
          </p:cNvSpPr>
          <p:nvPr>
            <p:ph type="title"/>
          </p:nvPr>
        </p:nvSpPr>
        <p:spPr>
          <a:xfrm>
            <a:off x="2592925" y="624109"/>
            <a:ext cx="8911687" cy="1417341"/>
          </a:xfrm>
        </p:spPr>
        <p:txBody>
          <a:bodyPr>
            <a:normAutofit fontScale="90000"/>
          </a:bodyPr>
          <a:lstStyle/>
          <a:p>
            <a: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t>Data Flow Diagram (DFD)</a:t>
            </a:r>
            <a:b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br>
            <a:br>
              <a:rPr lang="en-GB"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br>
            <a:r>
              <a:rPr lang="en-GB" sz="2400" dirty="0">
                <a:solidFill>
                  <a:schemeClr val="accent5">
                    <a:lumMod val="75000"/>
                  </a:schemeClr>
                </a:solidFill>
                <a:effectLst/>
                <a:latin typeface="Times New Roman" panose="02020603050405020304" pitchFamily="18" charset="0"/>
                <a:ea typeface="Courier New" panose="02070309020205020404" pitchFamily="49" charset="0"/>
              </a:rPr>
              <a:t>DFD Level 1 : School Management System (Teacher)</a:t>
            </a:r>
            <a:endParaRPr lang="en-IN" sz="2400" dirty="0"/>
          </a:p>
        </p:txBody>
      </p:sp>
      <p:pic>
        <p:nvPicPr>
          <p:cNvPr id="4" name="Content Placeholder 3">
            <a:extLst>
              <a:ext uri="{FF2B5EF4-FFF2-40B4-BE49-F238E27FC236}">
                <a16:creationId xmlns:a16="http://schemas.microsoft.com/office/drawing/2014/main" id="{EE97EB44-F77A-4603-BE9E-8B1C7E03FDE3}"/>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64735" y="2133599"/>
            <a:ext cx="8389087" cy="4501117"/>
          </a:xfrm>
          <a:prstGeom prst="rect">
            <a:avLst/>
          </a:prstGeom>
          <a:noFill/>
          <a:ln>
            <a:noFill/>
          </a:ln>
        </p:spPr>
      </p:pic>
    </p:spTree>
    <p:extLst>
      <p:ext uri="{BB962C8B-B14F-4D97-AF65-F5344CB8AC3E}">
        <p14:creationId xmlns:p14="http://schemas.microsoft.com/office/powerpoint/2010/main" val="28203733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C5A1-8111-48EB-A7AA-E4698B29E5BE}"/>
              </a:ext>
            </a:extLst>
          </p:cNvPr>
          <p:cNvSpPr>
            <a:spLocks noGrp="1"/>
          </p:cNvSpPr>
          <p:nvPr>
            <p:ph type="title"/>
          </p:nvPr>
        </p:nvSpPr>
        <p:spPr/>
        <p:txBody>
          <a:bodyPr>
            <a:normAutofit/>
          </a:bodyPr>
          <a:lstStyle/>
          <a:p>
            <a:r>
              <a:rPr lang="en-GB" sz="3200"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t>Activity Diagram: School Management System</a:t>
            </a:r>
            <a:endParaRPr lang="en-IN" sz="3200" u="sng" dirty="0">
              <a:solidFill>
                <a:schemeClr val="accent5">
                  <a:lumMod val="75000"/>
                </a:schemeClr>
              </a:solidFill>
              <a:effectLst>
                <a:outerShdw blurRad="38100" dist="38100" dir="2700000" algn="tl">
                  <a:srgbClr val="000000">
                    <a:alpha val="43137"/>
                  </a:srgbClr>
                </a:outerShdw>
              </a:effectLst>
            </a:endParaRPr>
          </a:p>
        </p:txBody>
      </p:sp>
      <p:pic>
        <p:nvPicPr>
          <p:cNvPr id="4" name="Content Placeholder 3">
            <a:extLst>
              <a:ext uri="{FF2B5EF4-FFF2-40B4-BE49-F238E27FC236}">
                <a16:creationId xmlns:a16="http://schemas.microsoft.com/office/drawing/2014/main" id="{418053A1-4FC0-4DF3-A9C7-09AC50E0D28C}"/>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6" y="1446028"/>
            <a:ext cx="8231018" cy="4465822"/>
          </a:xfrm>
          <a:prstGeom prst="rect">
            <a:avLst/>
          </a:prstGeom>
          <a:noFill/>
          <a:ln>
            <a:noFill/>
          </a:ln>
        </p:spPr>
      </p:pic>
    </p:spTree>
    <p:extLst>
      <p:ext uri="{BB962C8B-B14F-4D97-AF65-F5344CB8AC3E}">
        <p14:creationId xmlns:p14="http://schemas.microsoft.com/office/powerpoint/2010/main" val="124090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F03C-4F52-456F-B5AF-CC8EE10E4714}"/>
              </a:ext>
            </a:extLst>
          </p:cNvPr>
          <p:cNvSpPr>
            <a:spLocks noGrp="1"/>
          </p:cNvSpPr>
          <p:nvPr>
            <p:ph type="title"/>
          </p:nvPr>
        </p:nvSpPr>
        <p:spPr/>
        <p:txBody>
          <a:bodyPr>
            <a:normAutofit/>
          </a:bodyPr>
          <a:lstStyle/>
          <a:p>
            <a:r>
              <a:rPr lang="en-GB" sz="3200" b="1" u="sng" dirty="0">
                <a:solidFill>
                  <a:schemeClr val="accent5">
                    <a:lumMod val="75000"/>
                  </a:schemeClr>
                </a:solidFill>
                <a:effectLst>
                  <a:outerShdw blurRad="38100" dist="38100" dir="2700000" algn="tl">
                    <a:srgbClr val="000000">
                      <a:alpha val="43137"/>
                    </a:srgbClr>
                  </a:outerShdw>
                </a:effectLst>
                <a:latin typeface="Times New Roman" panose="02020603050405020304" pitchFamily="18" charset="0"/>
                <a:ea typeface="Courier New" panose="02070309020205020404" pitchFamily="49" charset="0"/>
              </a:rPr>
              <a:t>Use Case Diagram: School Management System</a:t>
            </a:r>
            <a:endParaRPr lang="en-IN" sz="3200" u="sng" dirty="0">
              <a:solidFill>
                <a:schemeClr val="accent5">
                  <a:lumMod val="75000"/>
                </a:schemeClr>
              </a:solidFill>
              <a:effectLst>
                <a:outerShdw blurRad="38100" dist="38100" dir="2700000" algn="tl">
                  <a:srgbClr val="000000">
                    <a:alpha val="43137"/>
                  </a:srgbClr>
                </a:outerShdw>
              </a:effectLst>
            </a:endParaRPr>
          </a:p>
        </p:txBody>
      </p:sp>
      <p:pic>
        <p:nvPicPr>
          <p:cNvPr id="4" name="Content Placeholder 3">
            <a:extLst>
              <a:ext uri="{FF2B5EF4-FFF2-40B4-BE49-F238E27FC236}">
                <a16:creationId xmlns:a16="http://schemas.microsoft.com/office/drawing/2014/main" id="{802D3DF6-5AF1-4966-B76D-D9D24F221811}"/>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0670" y="1424763"/>
            <a:ext cx="8165804" cy="5188687"/>
          </a:xfrm>
          <a:prstGeom prst="rect">
            <a:avLst/>
          </a:prstGeom>
          <a:noFill/>
          <a:ln>
            <a:noFill/>
          </a:ln>
        </p:spPr>
      </p:pic>
    </p:spTree>
    <p:extLst>
      <p:ext uri="{BB962C8B-B14F-4D97-AF65-F5344CB8AC3E}">
        <p14:creationId xmlns:p14="http://schemas.microsoft.com/office/powerpoint/2010/main" val="3132332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thumb up gesture with a blue sleeve&#10;&#10;Description automatically generated">
            <a:extLst>
              <a:ext uri="{FF2B5EF4-FFF2-40B4-BE49-F238E27FC236}">
                <a16:creationId xmlns:a16="http://schemas.microsoft.com/office/drawing/2014/main" id="{B42A23CD-E132-89D3-F2DC-F8BFC920D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5114" y="940519"/>
            <a:ext cx="2881772" cy="2488481"/>
          </a:xfrm>
          <a:prstGeom prst="rect">
            <a:avLst/>
          </a:prstGeom>
        </p:spPr>
      </p:pic>
      <p:sp>
        <p:nvSpPr>
          <p:cNvPr id="7" name="Title 6">
            <a:extLst>
              <a:ext uri="{FF2B5EF4-FFF2-40B4-BE49-F238E27FC236}">
                <a16:creationId xmlns:a16="http://schemas.microsoft.com/office/drawing/2014/main" id="{47420A27-B06C-4062-8704-FEF3409B616D}"/>
              </a:ext>
            </a:extLst>
          </p:cNvPr>
          <p:cNvSpPr>
            <a:spLocks noGrp="1"/>
          </p:cNvSpPr>
          <p:nvPr>
            <p:ph type="title"/>
          </p:nvPr>
        </p:nvSpPr>
        <p:spPr>
          <a:xfrm>
            <a:off x="2589213" y="3179135"/>
            <a:ext cx="8915400" cy="1984110"/>
          </a:xfrm>
        </p:spPr>
        <p:txBody>
          <a:bodyPr/>
          <a:lstStyle/>
          <a:p>
            <a:r>
              <a:rPr lang="en-GB" dirty="0">
                <a:latin typeface="Times New Roman" panose="02020603050405020304" pitchFamily="18" charset="0"/>
                <a:cs typeface="Times New Roman" panose="02020603050405020304" pitchFamily="18" charset="0"/>
              </a:rPr>
              <a:t>               </a:t>
            </a:r>
            <a:r>
              <a:rPr lang="en-GB" dirty="0">
                <a:solidFill>
                  <a:schemeClr val="accent5">
                    <a:lumMod val="75000"/>
                  </a:schemeClr>
                </a:solidFill>
                <a:latin typeface="Times New Roman" panose="02020603050405020304" pitchFamily="18" charset="0"/>
                <a:cs typeface="Times New Roman" panose="02020603050405020304" pitchFamily="18" charset="0"/>
              </a:rPr>
              <a:t>Thank You!</a:t>
            </a:r>
            <a:endParaRPr lang="en-IN"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98525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363</TotalTime>
  <Words>740</Words>
  <Application>Microsoft Office PowerPoint</Application>
  <PresentationFormat>Widescreen</PresentationFormat>
  <Paragraphs>90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Century Gothic</vt:lpstr>
      <vt:lpstr>Courier New</vt:lpstr>
      <vt:lpstr>Times New Roman</vt:lpstr>
      <vt:lpstr>Wingdings</vt:lpstr>
      <vt:lpstr>Wingdings 3</vt:lpstr>
      <vt:lpstr>Wisp</vt:lpstr>
      <vt:lpstr>Project Name : School Management System</vt:lpstr>
      <vt:lpstr>OVERVIEW OF PRESENTATION</vt:lpstr>
      <vt:lpstr>INTRODUCTION</vt:lpstr>
      <vt:lpstr>Problem Definition</vt:lpstr>
      <vt:lpstr>Objectives</vt:lpstr>
      <vt:lpstr>Scope for Work</vt:lpstr>
      <vt:lpstr>Functional Requirements</vt:lpstr>
      <vt:lpstr>Non Functional Requirements</vt:lpstr>
      <vt:lpstr>Advantages/Benefits</vt:lpstr>
      <vt:lpstr>Entity-Relationship (ER) Diagram</vt:lpstr>
      <vt:lpstr>Data Flow Diagram (DFD)  DFD Level 0 : School Management System</vt:lpstr>
      <vt:lpstr>Data Flow Diagram (DFD)  DFD Level 1 : School Management System (Admin)</vt:lpstr>
      <vt:lpstr>Data Flow Diagram (DFD)  DFD Level 1 : School Management System (Teacher)</vt:lpstr>
      <vt:lpstr>Activity Diagram: School Management System</vt:lpstr>
      <vt:lpstr>Use Case Diagram: School Management System</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Uttam Kumar Singh</dc:creator>
  <cp:lastModifiedBy>Uttam Kumar Singh</cp:lastModifiedBy>
  <cp:revision>75</cp:revision>
  <dcterms:created xsi:type="dcterms:W3CDTF">2025-02-17T15:55:03Z</dcterms:created>
  <dcterms:modified xsi:type="dcterms:W3CDTF">2025-02-21T05:34:00Z</dcterms:modified>
</cp:coreProperties>
</file>